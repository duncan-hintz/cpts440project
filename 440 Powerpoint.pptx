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58" r:id="rId5"/>
    <p:sldId id="259" r:id="rId6"/>
    <p:sldId id="260" r:id="rId7"/>
    <p:sldId id="265" r:id="rId8"/>
    <p:sldId id="266" r:id="rId9"/>
    <p:sldId id="267" r:id="rId10"/>
    <p:sldId id="268" r:id="rId11"/>
    <p:sldId id="269" r:id="rId12"/>
    <p:sldId id="270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164592"/>
            <a:ext cx="3227832" cy="6693408"/>
          </a:xfrm>
          <a:prstGeom prst="rect">
            <a:avLst/>
          </a:prstGeom>
          <a:solidFill>
            <a:srgbClr val="14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942832" y="164592"/>
            <a:ext cx="36576" cy="6693408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50224" y="1508760"/>
            <a:ext cx="3840480" cy="3840480"/>
          </a:xfrm>
          <a:prstGeom prst="ellipse">
            <a:avLst/>
          </a:prstGeom>
          <a:solidFill>
            <a:srgbClr val="1C3652"/>
          </a:solidFill>
          <a:ln w="19050">
            <a:solidFill>
              <a:srgbClr val="30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58984" y="3017520"/>
            <a:ext cx="822960" cy="822960"/>
          </a:xfrm>
          <a:prstGeom prst="ellipse">
            <a:avLst/>
          </a:prstGeom>
          <a:solidFill>
            <a:srgbClr val="CC2B2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50224" y="3374136"/>
            <a:ext cx="3840480" cy="109728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2004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C"/>
                </a:solidFill>
                <a:latin typeface="Calibri"/>
              </a:rPr>
              <a:t>CPTS 440  ·  Deep Reinforcement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22960"/>
            <a:ext cx="8229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 dirty="0">
                <a:solidFill>
                  <a:srgbClr val="FFFFFF"/>
                </a:solidFill>
                <a:latin typeface="Georgia"/>
              </a:rPr>
              <a:t>Training a Pokémon
Doubles Battle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89C13"/>
                </a:solidFill>
                <a:latin typeface="Georgia"/>
              </a:rPr>
              <a:t>with Proximal Policy Optimization (PPO)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2011680" cy="457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8EC"/>
                </a:solidFill>
                <a:latin typeface="Calibri"/>
              </a:rPr>
              <a:t>Abdur Islam    ·    Aden Athar    ·    Duncan Hintz    ·    Felix Roman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90B0"/>
                </a:solidFill>
                <a:latin typeface="Calibri"/>
              </a:rPr>
              <a:t>Washington State University  · 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155448"/>
            <a:ext cx="45720" cy="2743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A1F2E"/>
                </a:solidFill>
                <a:latin typeface="Georgia"/>
              </a:rPr>
              <a:t>Problem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1136599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Georgia"/>
              </a:rPr>
              <a:t>What is Pokémon Doubles?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83080"/>
            <a:ext cx="11338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" indent="-137160">
              <a:spcAft>
                <a:spcPts val="500"/>
              </a:spcAft>
              <a:buChar char="▸"/>
            </a:pPr>
            <a:r>
              <a:rPr sz="1250">
                <a:solidFill>
                  <a:srgbClr val="1A1F2E"/>
                </a:solidFill>
                <a:latin typeface="Calibri"/>
              </a:rPr>
              <a:t>Turn-based 2v2 strategy game with hundreds of Pokémon, moves, items, and abilities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50">
                <a:solidFill>
                  <a:srgbClr val="1A1F2E"/>
                </a:solidFill>
                <a:latin typeface="Calibri"/>
              </a:rPr>
              <a:t>Both players simultaneously choose two moves each turn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50">
                <a:solidFill>
                  <a:srgbClr val="1A1F2E"/>
                </a:solidFill>
                <a:latin typeface="Calibri"/>
              </a:rPr>
              <a:t>Long-horizon credit assignment — a trade now may cost the game 10 turns later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944368"/>
            <a:ext cx="11365992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063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Georgia"/>
              </a:rPr>
              <a:t>Why Is It Hard?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11338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" indent="-137160">
              <a:spcAft>
                <a:spcPts val="500"/>
              </a:spcAft>
              <a:buChar char="▸"/>
            </a:pPr>
            <a:r>
              <a:rPr sz="1250">
                <a:solidFill>
                  <a:srgbClr val="1A1F2E"/>
                </a:solidFill>
                <a:latin typeface="Calibri"/>
              </a:rPr>
              <a:t>Combinatorially large action space — 107² = 11,449 joint actions per turn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50">
                <a:solidFill>
                  <a:srgbClr val="1A1F2E"/>
                </a:solidFill>
                <a:latin typeface="Calibri"/>
              </a:rPr>
              <a:t>Partially observable — opponent's team is hidden until revealed in battle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50">
                <a:solidFill>
                  <a:srgbClr val="1A1F2E"/>
                </a:solidFill>
                <a:latin typeface="Calibri"/>
              </a:rPr>
              <a:t>Joint actions — two moves chosen simultaneously each turn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50">
                <a:solidFill>
                  <a:srgbClr val="1A1F2E"/>
                </a:solidFill>
                <a:latin typeface="Calibri"/>
              </a:rPr>
              <a:t>Imperfect information game requiring long-horizon 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892040"/>
            <a:ext cx="11365992" cy="128016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4892040"/>
            <a:ext cx="73152" cy="1280160"/>
          </a:xfrm>
          <a:prstGeom prst="rect">
            <a:avLst/>
          </a:prstGeom>
          <a:solidFill>
            <a:srgbClr val="E89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C13"/>
                </a:solidFill>
                <a:latin typeface="Georgia"/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76672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Create an artificial intelligence capable of playing competitively against others in Pokémon Showdown.</a:t>
            </a:r>
            <a:br>
              <a:rPr lang="en-US" sz="1200" dirty="0">
                <a:solidFill>
                  <a:schemeClr val="bg1"/>
                </a:solidFill>
              </a:rPr>
            </a:br>
            <a:endParaRPr sz="12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E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CPTS 440  ·  Washington State University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7C8AE-2D7C-A0A9-E59B-BA372E39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6CDE66-D936-589D-CF4E-E86DC266107F}"/>
              </a:ext>
            </a:extLst>
          </p:cNvPr>
          <p:cNvSpPr/>
          <p:nvPr/>
        </p:nvSpPr>
        <p:spPr>
          <a:xfrm>
            <a:off x="411480" y="155448"/>
            <a:ext cx="45720" cy="2743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55DED-9ADF-08B1-EE65-F9AA46F5559F}"/>
              </a:ext>
            </a:extLst>
          </p:cNvPr>
          <p:cNvSpPr txBox="1"/>
          <p:nvPr/>
        </p:nvSpPr>
        <p:spPr>
          <a:xfrm>
            <a:off x="530352" y="155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FORMULATION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E15C1-7EAC-5450-48B8-BDC6D7F513CE}"/>
              </a:ext>
            </a:extLst>
          </p:cNvPr>
          <p:cNvSpPr txBox="1"/>
          <p:nvPr/>
        </p:nvSpPr>
        <p:spPr>
          <a:xfrm>
            <a:off x="411480" y="457200"/>
            <a:ext cx="11338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1A1F2E"/>
                </a:solidFill>
                <a:latin typeface="Georgia"/>
              </a:rPr>
              <a:t>Motivation</a:t>
            </a:r>
            <a:endParaRPr sz="2800" b="1" i="0" dirty="0">
              <a:solidFill>
                <a:srgbClr val="1A1F2E"/>
              </a:solidFill>
              <a:latin typeface="Georgi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DF7FC7-BF64-8897-09C5-47973EA83B14}"/>
              </a:ext>
            </a:extLst>
          </p:cNvPr>
          <p:cNvSpPr/>
          <p:nvPr/>
        </p:nvSpPr>
        <p:spPr>
          <a:xfrm>
            <a:off x="411480" y="1207008"/>
            <a:ext cx="1136599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A7F37-0B66-F782-5D21-59490C2C0219}"/>
              </a:ext>
            </a:extLst>
          </p:cNvPr>
          <p:cNvSpPr/>
          <p:nvPr/>
        </p:nvSpPr>
        <p:spPr>
          <a:xfrm>
            <a:off x="411480" y="1371600"/>
            <a:ext cx="73152" cy="86868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F4AB11-DA98-B308-86B1-956FE6DFDA6C}"/>
              </a:ext>
            </a:extLst>
          </p:cNvPr>
          <p:cNvSpPr txBox="1"/>
          <p:nvPr/>
        </p:nvSpPr>
        <p:spPr>
          <a:xfrm>
            <a:off x="594360" y="1408176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1A78C2"/>
                </a:solidFill>
                <a:latin typeface="Georgia"/>
              </a:rPr>
              <a:t>Pokémon</a:t>
            </a:r>
            <a:endParaRPr sz="1300" b="1" i="0" dirty="0">
              <a:solidFill>
                <a:srgbClr val="1A78C2"/>
              </a:solidFill>
              <a:latin typeface="Georg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DD7DB-3F13-4C0F-8502-14AD2729B877}"/>
              </a:ext>
            </a:extLst>
          </p:cNvPr>
          <p:cNvSpPr txBox="1"/>
          <p:nvPr/>
        </p:nvSpPr>
        <p:spPr>
          <a:xfrm>
            <a:off x="594360" y="1773936"/>
            <a:ext cx="11155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We all grew up spending a lot of time playing Pokémon, so it is something that we all connected with very easily</a:t>
            </a:r>
          </a:p>
          <a:p>
            <a:br>
              <a:rPr lang="en-US" sz="1200" dirty="0"/>
            </a:br>
            <a:endParaRPr sz="1200" b="0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D2EFE9-DFDB-E250-F241-F3945F2E11C8}"/>
              </a:ext>
            </a:extLst>
          </p:cNvPr>
          <p:cNvSpPr/>
          <p:nvPr/>
        </p:nvSpPr>
        <p:spPr>
          <a:xfrm>
            <a:off x="411480" y="2286000"/>
            <a:ext cx="11365992" cy="18288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03C5C4-2C09-25CF-35EA-6F9A77D508C5}"/>
              </a:ext>
            </a:extLst>
          </p:cNvPr>
          <p:cNvSpPr/>
          <p:nvPr/>
        </p:nvSpPr>
        <p:spPr>
          <a:xfrm>
            <a:off x="411480" y="2578608"/>
            <a:ext cx="73152" cy="86868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69BEC8-1307-6BBD-F378-58F36F75D54F}"/>
              </a:ext>
            </a:extLst>
          </p:cNvPr>
          <p:cNvSpPr txBox="1"/>
          <p:nvPr/>
        </p:nvSpPr>
        <p:spPr>
          <a:xfrm>
            <a:off x="594360" y="2615184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CC2B2B"/>
                </a:solidFill>
                <a:latin typeface="Georgia"/>
              </a:rPr>
              <a:t>Seen Similar Agents</a:t>
            </a:r>
            <a:endParaRPr sz="1300" b="1" i="0" dirty="0">
              <a:solidFill>
                <a:srgbClr val="CC2B2B"/>
              </a:solidFill>
              <a:latin typeface="Georgi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7B781-B52C-E8CF-03FA-9A8E2808782D}"/>
              </a:ext>
            </a:extLst>
          </p:cNvPr>
          <p:cNvSpPr txBox="1"/>
          <p:nvPr/>
        </p:nvSpPr>
        <p:spPr>
          <a:xfrm>
            <a:off x="594360" y="2980944"/>
            <a:ext cx="1115568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We saw people build similar battle agents to play other games such as Super Mario Bros, Chess, Go, and thought this was a perfect opportunity to try something that we are personally interested in and apply what we have been learning</a:t>
            </a:r>
          </a:p>
          <a:p>
            <a:br>
              <a:rPr lang="en-US" sz="1100" dirty="0"/>
            </a:br>
            <a:endParaRPr sz="1100" b="0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B2305C-8045-A366-5C76-2154257729EF}"/>
              </a:ext>
            </a:extLst>
          </p:cNvPr>
          <p:cNvSpPr/>
          <p:nvPr/>
        </p:nvSpPr>
        <p:spPr>
          <a:xfrm>
            <a:off x="411480" y="3493008"/>
            <a:ext cx="11365992" cy="18288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BA3A4-0642-065A-9867-D0B6C2A5F3F1}"/>
              </a:ext>
            </a:extLst>
          </p:cNvPr>
          <p:cNvSpPr/>
          <p:nvPr/>
        </p:nvSpPr>
        <p:spPr>
          <a:xfrm>
            <a:off x="411480" y="3785616"/>
            <a:ext cx="73152" cy="868680"/>
          </a:xfrm>
          <a:prstGeom prst="rect">
            <a:avLst/>
          </a:prstGeom>
          <a:solidFill>
            <a:srgbClr val="E89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26A33E-5EF2-DA4A-7755-05C039288D7F}"/>
              </a:ext>
            </a:extLst>
          </p:cNvPr>
          <p:cNvSpPr txBox="1"/>
          <p:nvPr/>
        </p:nvSpPr>
        <p:spPr>
          <a:xfrm>
            <a:off x="594360" y="3822192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i="0" dirty="0">
                <a:solidFill>
                  <a:srgbClr val="E89C13"/>
                </a:solidFill>
                <a:latin typeface="Georgia"/>
              </a:rPr>
              <a:t>Difficu</a:t>
            </a:r>
            <a:r>
              <a:rPr lang="en-US" sz="1300" b="1" dirty="0">
                <a:solidFill>
                  <a:srgbClr val="E89C13"/>
                </a:solidFill>
                <a:latin typeface="Georgia"/>
              </a:rPr>
              <a:t>lty</a:t>
            </a:r>
            <a:endParaRPr sz="1300" b="1" i="0" dirty="0">
              <a:solidFill>
                <a:srgbClr val="E89C13"/>
              </a:solidFill>
              <a:latin typeface="Georgi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0A2F37-4583-A351-3973-17AA6B09C1DE}"/>
              </a:ext>
            </a:extLst>
          </p:cNvPr>
          <p:cNvSpPr txBox="1"/>
          <p:nvPr/>
        </p:nvSpPr>
        <p:spPr>
          <a:xfrm>
            <a:off x="594360" y="4187952"/>
            <a:ext cx="1115568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50" b="0" i="0" dirty="0">
                <a:solidFill>
                  <a:srgbClr val="3A4A5C"/>
                </a:solidFill>
                <a:latin typeface="Calibri"/>
              </a:rPr>
              <a:t>We wanted to see how difficult it would be to build a Pokémon AI battler and get positive results/see growth in the AI overall. </a:t>
            </a:r>
            <a:endParaRPr sz="1150" b="0" i="0" dirty="0">
              <a:solidFill>
                <a:srgbClr val="3A4A5C"/>
              </a:solidFill>
              <a:latin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82ED5D-2397-EE47-D4FC-983A704FF0B2}"/>
              </a:ext>
            </a:extLst>
          </p:cNvPr>
          <p:cNvSpPr/>
          <p:nvPr/>
        </p:nvSpPr>
        <p:spPr>
          <a:xfrm>
            <a:off x="411480" y="4700016"/>
            <a:ext cx="11365992" cy="18288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0500AB-0E1C-479B-7B48-F0893BF01E8D}"/>
              </a:ext>
            </a:extLst>
          </p:cNvPr>
          <p:cNvSpPr/>
          <p:nvPr/>
        </p:nvSpPr>
        <p:spPr>
          <a:xfrm>
            <a:off x="411480" y="4992624"/>
            <a:ext cx="73152" cy="868680"/>
          </a:xfrm>
          <a:prstGeom prst="rect">
            <a:avLst/>
          </a:prstGeom>
          <a:solidFill>
            <a:srgbClr val="0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344DA5-FCC3-B665-EE1D-8E536E2D15A9}"/>
              </a:ext>
            </a:extLst>
          </p:cNvPr>
          <p:cNvSpPr txBox="1"/>
          <p:nvPr/>
        </p:nvSpPr>
        <p:spPr>
          <a:xfrm>
            <a:off x="594360" y="50292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8A7A"/>
                </a:solidFill>
                <a:latin typeface="Georgia"/>
              </a:rPr>
              <a:t>Terminal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A6DEA1-B4CD-12C8-2DC2-79DA74A39A70}"/>
              </a:ext>
            </a:extLst>
          </p:cNvPr>
          <p:cNvSpPr txBox="1"/>
          <p:nvPr/>
        </p:nvSpPr>
        <p:spPr>
          <a:xfrm>
            <a:off x="594360" y="539496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Episode ends when all Pokémon on one side have fainted. Environment: custom Gymnasium wrapper around poke-env connected to a local Pokémon Showdown server.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B0989A-D9D8-E8E8-7743-0345159937F6}"/>
              </a:ext>
            </a:extLst>
          </p:cNvPr>
          <p:cNvSpPr/>
          <p:nvPr/>
        </p:nvSpPr>
        <p:spPr>
          <a:xfrm>
            <a:off x="411480" y="6263640"/>
            <a:ext cx="11365992" cy="32004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4E2446-7B12-B9E9-CAC9-733F2F67BB18}"/>
              </a:ext>
            </a:extLst>
          </p:cNvPr>
          <p:cNvSpPr txBox="1"/>
          <p:nvPr/>
        </p:nvSpPr>
        <p:spPr>
          <a:xfrm>
            <a:off x="548640" y="630936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D8EC"/>
                </a:solidFill>
                <a:latin typeface="Calibri"/>
              </a:rPr>
              <a:t>Modeled as a Multi-Agent Partially Observable MDP (MA-POMDP)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A8A7E3-EAFC-BC8F-C202-C5E16EEC58DE}"/>
              </a:ext>
            </a:extLst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E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F81E01-BCA3-B067-849E-3FC1FA2A4E29}"/>
              </a:ext>
            </a:extLst>
          </p:cNvPr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CPTS 440  ·  Washington State University  ·  2026</a:t>
            </a:r>
          </a:p>
        </p:txBody>
      </p:sp>
    </p:spTree>
    <p:extLst>
      <p:ext uri="{BB962C8B-B14F-4D97-AF65-F5344CB8AC3E}">
        <p14:creationId xmlns:p14="http://schemas.microsoft.com/office/powerpoint/2010/main" val="3453620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155448"/>
            <a:ext cx="45720" cy="2743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Georgia"/>
              </a:rPr>
              <a:t>Pokémon Doubles as an RL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1136599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73152" cy="86868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8C2"/>
                </a:solidFill>
                <a:latin typeface="Georgia"/>
              </a:rPr>
              <a:t>State  sₜ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73936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3A4A5C"/>
                </a:solidFill>
                <a:latin typeface="Calibri"/>
              </a:rPr>
              <a:t>Numerical embedding of the current battle: moves, HP, types, stat boosts, items, abilities, fainted counts. Encoded as a flat float32 vector.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86000"/>
            <a:ext cx="11365992" cy="18288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2578608"/>
            <a:ext cx="73152" cy="86868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61518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2B2B"/>
                </a:solidFill>
                <a:latin typeface="Georgia"/>
              </a:rPr>
              <a:t>Action  aₜ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80944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Joint action over both active Pokémon slots. Encoded as a = 107·a₁ + a₂, giving 107² = 11,449 possible actions per turn.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493008"/>
            <a:ext cx="11365992" cy="18288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3785616"/>
            <a:ext cx="73152" cy="868680"/>
          </a:xfrm>
          <a:prstGeom prst="rect">
            <a:avLst/>
          </a:prstGeom>
          <a:solidFill>
            <a:srgbClr val="E89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8221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9C13"/>
                </a:solidFill>
                <a:latin typeface="Georgia"/>
              </a:rPr>
              <a:t>Reward  rₜ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87952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Shaped signal: +100 per opponent fainted, −100 per own fainted, HP-delta scaling, +20 per status inflicted, +10 victory bonus.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700016"/>
            <a:ext cx="11365992" cy="18288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4992624"/>
            <a:ext cx="73152" cy="868680"/>
          </a:xfrm>
          <a:prstGeom prst="rect">
            <a:avLst/>
          </a:prstGeom>
          <a:solidFill>
            <a:srgbClr val="0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02920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8A7A"/>
                </a:solidFill>
                <a:latin typeface="Georgia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394960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Episode ends when all Pokémon on one side have fainted. Environment: custom Gymnasium wrapper around poke-env connected to a local Pokémon Showdown server.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263640"/>
            <a:ext cx="11365992" cy="32004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D8EC"/>
                </a:solidFill>
                <a:latin typeface="Calibri"/>
              </a:rPr>
              <a:t>Modeled as a Multi-Agent Partially Observable MDP (MA-POMDP)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E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CPTS 440  ·  Washington State University  ·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155448"/>
            <a:ext cx="45720" cy="2743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Georgia"/>
              </a:rPr>
              <a:t>Environment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1136599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A4A5C"/>
                </a:solidFill>
                <a:latin typeface="Calibri"/>
              </a:rPr>
              <a:t>Pipeline: Pokémon Showdown → poke-env → CustomEnv → PPO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2743200" cy="5029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Pokémon Showdown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22576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Local Node.js server, no auth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1920240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A4A5C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1783080"/>
            <a:ext cx="2743200" cy="50292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18470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poke-env WebSocket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322576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Python lib parsing game state from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920240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A4A5C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216" y="1783080"/>
            <a:ext cx="2743200" cy="502920"/>
          </a:xfrm>
          <a:prstGeom prst="rect">
            <a:avLst/>
          </a:prstGeom>
          <a:solidFill>
            <a:srgbClr val="E89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6" y="18470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CustomEnv (Gym)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22576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Extends DoublesEnv with custom methods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1920240"/>
            <a:ext cx="219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A4A5C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1783080"/>
            <a:ext cx="2743200" cy="502920"/>
          </a:xfrm>
          <a:prstGeom prst="rect">
            <a:avLst/>
          </a:prstGeom>
          <a:solidFill>
            <a:srgbClr val="0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8470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PPO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2322576"/>
            <a:ext cx="2697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Actor-Critic network, CUDA-enabled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52928"/>
            <a:ext cx="11365992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2971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Georgia"/>
              </a:rPr>
              <a:t>CustomEnv Override Methods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429000"/>
            <a:ext cx="54864" cy="47548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34838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8C2"/>
                </a:solidFill>
                <a:latin typeface="Consolas"/>
              </a:rPr>
              <a:t>embed_battle()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483864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F2E"/>
                </a:solidFill>
                <a:latin typeface="Calibri"/>
              </a:rPr>
              <a:t>Produces the observation vector — all Pokémon, moves, items, boosts, HP fractions encoded as float32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114800"/>
            <a:ext cx="54864" cy="47548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4169663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8C2"/>
                </a:solidFill>
                <a:latin typeface="Consolas"/>
              </a:rPr>
              <a:t>get_mask()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4169663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F2E"/>
                </a:solidFill>
                <a:latin typeface="Calibri"/>
              </a:rPr>
              <a:t>Returns the action validity mask — eliminates illegal joint actions before sampling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800600"/>
            <a:ext cx="54864" cy="47548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48554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8C2"/>
                </a:solidFill>
                <a:latin typeface="Consolas"/>
              </a:rPr>
              <a:t>calc_reward()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855464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F2E"/>
                </a:solidFill>
                <a:latin typeface="Calibri"/>
              </a:rPr>
              <a:t>Implements the shaped reward: fainted / HP-delta / status / victory components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5486400"/>
            <a:ext cx="54864" cy="47548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554126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8C2"/>
                </a:solidFill>
                <a:latin typeface="Consolas"/>
              </a:rPr>
              <a:t>step()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5541264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F2E"/>
                </a:solidFill>
                <a:latin typeface="Calibri"/>
              </a:rPr>
              <a:t>Decodes the flat joint-action integer back into two sub-actions for the two active slots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E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CPTS 440  ·  Washington State University  ·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155448"/>
            <a:ext cx="45720" cy="2743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Georgia"/>
              </a:rPr>
              <a:t>State Representation &amp; Feature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1136599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353312"/>
            <a:ext cx="54864" cy="32004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78C2"/>
                </a:solidFill>
                <a:latin typeface="Georgia"/>
              </a:rPr>
              <a:t>Move Features  (8 values)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▸  Base power normalized by ÷100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39112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▸  Type damage multiplier vs. each active opponent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68880"/>
            <a:ext cx="54864" cy="32004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487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C2B2B"/>
                </a:solidFill>
                <a:latin typeface="Georgia"/>
              </a:rPr>
              <a:t>Team Health  (2 values)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5292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▸  Fraction of own Pokémon fainted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546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▸  Fraction of opponent Pokémon fainted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84448"/>
            <a:ext cx="54864" cy="320040"/>
          </a:xfrm>
          <a:prstGeom prst="rect">
            <a:avLst/>
          </a:prstGeom>
          <a:solidFill>
            <a:srgbClr val="E89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360273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89C13"/>
                </a:solidFill>
                <a:latin typeface="Georgia"/>
              </a:rPr>
              <a:t>Per-Pokémon Embedding  (28 features × 12 Pokémon = 336 values)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6849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▸  Active flag, HP fraction, item index, type_1, type_2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7024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▸  Base stats (HP, Atk, Def, SpA, SpD, Spe) normalized by ÷255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▸  Status condition, stat boosts ×6 (÷8), level, ability index</a:t>
            </a:r>
          </a:p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▸  Actual in-battle stats ×6, max_hp, current_hp  (8 additional features)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001768"/>
            <a:ext cx="54864" cy="320040"/>
          </a:xfrm>
          <a:prstGeom prst="rect">
            <a:avLst/>
          </a:prstGeom>
          <a:solidFill>
            <a:srgbClr val="0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50200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8A7A"/>
                </a:solidFill>
                <a:latin typeface="Georgia"/>
              </a:rPr>
              <a:t>Unknown / Unrevealed Pokémon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8581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▸  Unseen opponent slots filled with sentinel value −1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875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▸  Items and abilities: incremental index dictionaries persisted to disk, normalized by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E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CPTS 440  ·  Washington State University  ·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155448"/>
            <a:ext cx="45720" cy="2743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Georgia"/>
              </a:rPr>
              <a:t>Training Modes &amp; Self-Play Curriculum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1136599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353312"/>
            <a:ext cx="11365992" cy="384048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Mode 0  —  Bootstrapping vs. RandomPlayer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Agent (P1) plays against a uniformly random opponent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Only P1's observations and gradients are tracked during rollout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Establishes a performance baseline — learns legal moves, basic type matchups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34640"/>
            <a:ext cx="11365992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2944368"/>
            <a:ext cx="11365992" cy="38404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980944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Georgia"/>
              </a:rPr>
              <a:t>Mode 1  —  Self-Play (Implicit Curriculum)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01568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Both P1 and P2 start from the same checkpoint — P2 is loaded once at training start and frozen in eval() mode for the full run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P2 runs in eval() mode — frozen weights, no gradient computation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As P1 improves, so does the opponent it trains against — automatic difficulty scaling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Win rate tracked over a rolling window of last 10 and last 50 episodes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4736592"/>
            <a:ext cx="11365992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F2E"/>
                </a:solidFill>
                <a:latin typeface="Georgia"/>
              </a:rPr>
              <a:t>Curriculum Progression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257800"/>
            <a:ext cx="3749039" cy="68580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" y="5303520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1. Random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557784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Learn legal moves and basic game mechanics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5257800"/>
            <a:ext cx="3749039" cy="68580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8" y="5303520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2. Self-Play 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557784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Match improving P1 checkpoint — rising difficulty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5257800"/>
            <a:ext cx="3749039" cy="685800"/>
          </a:xfrm>
          <a:prstGeom prst="rect">
            <a:avLst/>
          </a:prstGeom>
          <a:solidFill>
            <a:srgbClr val="0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85047" y="5303520"/>
            <a:ext cx="3529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3. Self-Play v2+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7" y="5577840"/>
            <a:ext cx="3529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Converge toward a strong policy through continuous competition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E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CPTS 440  ·  Washington State University  ·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155448"/>
            <a:ext cx="45720" cy="2743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Georgia"/>
              </a:rPr>
              <a:t>Challenges &amp;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1136599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54864" cy="566928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C2B2B"/>
                </a:solidFill>
                <a:latin typeface="Calibri"/>
              </a:rPr>
              <a:t>⚠  Simultaneous joint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✓  Encoded as single integer a = 107·a₁ + a₂ → decoded back into two sub-actions at inference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67128"/>
            <a:ext cx="54864" cy="56692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2128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78C2"/>
                </a:solidFill>
                <a:latin typeface="Calibri"/>
              </a:rPr>
              <a:t>⚠  Illegal action combinations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12848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✓  Combinatorial action mask applied pre-sample: logits zeroed then renormalized; gradient flows normally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962656"/>
            <a:ext cx="54864" cy="566928"/>
          </a:xfrm>
          <a:prstGeom prst="rect">
            <a:avLst/>
          </a:prstGeom>
          <a:solidFill>
            <a:srgbClr val="E89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008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9C13"/>
                </a:solidFill>
                <a:latin typeface="Calibri"/>
              </a:rPr>
              <a:t>⚠  Wait / forced-pass 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008376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✓  Detect battle._wait flag and force action 0 — prevents the environment from hanging on pass 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58183"/>
            <a:ext cx="54864" cy="566928"/>
          </a:xfrm>
          <a:prstGeom prst="rect">
            <a:avLst/>
          </a:prstGeom>
          <a:solidFill>
            <a:srgbClr val="0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803903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8A7A"/>
                </a:solidFill>
                <a:latin typeface="Calibri"/>
              </a:rPr>
              <a:t>⚠  Partial 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803903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✓  Unseen opponent Pokémon slots filled with sentinel −1 embedding; no assumptions about hidden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553712"/>
            <a:ext cx="54864" cy="566928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45994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C2B2B"/>
                </a:solidFill>
                <a:latin typeface="Calibri"/>
              </a:rPr>
              <a:t>⚠  Thousands of items &amp; 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599432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✓  Incremental index dictionaries built on the fly, normalized by current dictionary size, persisted to disk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349240"/>
            <a:ext cx="54864" cy="56692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39495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78C2"/>
                </a:solidFill>
                <a:latin typeface="Calibri"/>
              </a:rPr>
              <a:t>⚠  Training instability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94959"/>
            <a:ext cx="7086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✓  Entropy regularization + orthogonal weight init + small LR (1×10⁻⁵) stabilizes training over large action space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E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CPTS 440  ·  Washington State University  ·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155448"/>
            <a:ext cx="45720" cy="2743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Georgia"/>
              </a:rPr>
              <a:t>Results &amp;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1136599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638644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1A1F2E"/>
                </a:solidFill>
                <a:latin typeface="Georgia"/>
              </a:rPr>
              <a:t>Metrics tracked during training: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404" y="2411583"/>
            <a:ext cx="54864" cy="5029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60359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CC2B2B"/>
                </a:solidFill>
                <a:latin typeface="Georgia"/>
              </a:rPr>
              <a:t>Win Rate vs. Random (Mode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4701" y="2594536"/>
            <a:ext cx="6903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A4A5C"/>
                </a:solidFill>
                <a:latin typeface="Calibri"/>
              </a:rPr>
              <a:t>Last-10 and last-50 episode rolling win-rate windows tracked throughout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3529437"/>
            <a:ext cx="54864" cy="50292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63297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A78C2"/>
                </a:solidFill>
                <a:latin typeface="Georgia"/>
              </a:rPr>
              <a:t>Self-Play Convergence (Mode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662123"/>
            <a:ext cx="6903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A4A5C"/>
                </a:solidFill>
                <a:latin typeface="Calibri"/>
              </a:rPr>
              <a:t>Win rate curves comparing Mode 0 bootstrap vs. Mode 1 self-play convergence speed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" y="4759305"/>
            <a:ext cx="54864" cy="502920"/>
          </a:xfrm>
          <a:prstGeom prst="rect">
            <a:avLst/>
          </a:prstGeom>
          <a:solidFill>
            <a:srgbClr val="E89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4832457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E89C13"/>
                </a:solidFill>
                <a:latin typeface="Georgia"/>
              </a:rPr>
              <a:t>Qualitative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4833931"/>
            <a:ext cx="6903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3A4A5C"/>
                </a:solidFill>
                <a:latin typeface="Calibri"/>
              </a:rPr>
              <a:t>Does the agent learn type matchups?  Status strategies?  Switching?  Fainting trades?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076041"/>
            <a:ext cx="11365992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E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CPTS 440  ·  Washington State University  ·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155448"/>
            <a:ext cx="45720" cy="27432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55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Georgia"/>
              </a:rPr>
              <a:t>Limitations &amp; 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07008"/>
            <a:ext cx="1136599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5331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Georgia"/>
              </a:rPr>
              <a:t>Current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54864" cy="658368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8288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B2B"/>
                </a:solidFill>
                <a:latin typeface="Georgia"/>
              </a:rPr>
              <a:t>Incomplete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488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3A4A5C"/>
                </a:solidFill>
                <a:latin typeface="Calibri"/>
              </a:rPr>
              <a:t>Tera type and move PP/category not yet encoded — weather and side conditions were recently added; remaining gaps may reduce state fidelity in edge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54864" cy="658368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27432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8C2"/>
                </a:solidFill>
                <a:latin typeface="Georgia"/>
              </a:rPr>
              <a:t>Large action 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632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107² = 11,449 is high-dimensional for a single policy head; a factored head (two separate 107-dim heads) would improve sample efficiency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11880"/>
            <a:ext cx="54864" cy="658368"/>
          </a:xfrm>
          <a:prstGeom prst="rect">
            <a:avLst/>
          </a:prstGeom>
          <a:solidFill>
            <a:srgbClr val="E89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36576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9C13"/>
                </a:solidFill>
                <a:latin typeface="Georgia"/>
              </a:rPr>
              <a:t>Fixed / partial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9776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A4A5C"/>
                </a:solidFill>
                <a:latin typeface="Calibri"/>
              </a:rPr>
              <a:t>gen9doublesou mode partially implemented — team 2 slot is currently empty; full random team generation is needed to test generalization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681728"/>
            <a:ext cx="11365992" cy="27432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800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F2E"/>
                </a:solidFill>
                <a:latin typeface="Georgia"/>
              </a:rPr>
              <a:t>Future Directions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230368"/>
            <a:ext cx="11338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Opponent modeling — infer opponent's hidden Pokémon from the revealed battle history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Monte Carlo Tree Search over the turn for lookahead planning beyond greedy action selection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Population-based self-play / multi-agent league training across diverse team compositions</a:t>
            </a:r>
          </a:p>
          <a:p>
            <a:pPr marL="137160" indent="-137160">
              <a:spcAft>
                <a:spcPts val="500"/>
              </a:spcAft>
              <a:buChar char="▸"/>
            </a:pPr>
            <a:r>
              <a:rPr sz="1200">
                <a:solidFill>
                  <a:srgbClr val="1A1F2E"/>
                </a:solidFill>
                <a:latin typeface="Calibri"/>
              </a:rPr>
              <a:t>Richer reward shaping to capture tempo, momentum, and type-coverage advantage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DE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65196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3A4A5C"/>
                </a:solidFill>
                <a:latin typeface="Calibri"/>
              </a:rPr>
              <a:t>CPTS 440  ·  Washington State University  ·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11365992" cy="36576"/>
          </a:xfrm>
          <a:prstGeom prst="rect">
            <a:avLst/>
          </a:prstGeom>
          <a:solidFill>
            <a:srgbClr val="E89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65992" cy="1051560"/>
          </a:xfrm>
          <a:prstGeom prst="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73152" cy="1051560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8C2"/>
                </a:solidFill>
                <a:latin typeface="Georgia"/>
              </a:rPr>
              <a:t>MA-POMDP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928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C"/>
                </a:solidFill>
                <a:latin typeface="Calibri"/>
              </a:rPr>
              <a:t>Modeled Pokémon Doubles as a multi-agent partially observable MDP with 11,449 joint actions per turn — a genuinely hard RL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24328"/>
            <a:ext cx="11365992" cy="1051560"/>
          </a:xfrm>
          <a:prstGeom prst="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2624328"/>
            <a:ext cx="73152" cy="1051560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2B2B"/>
                </a:solidFill>
                <a:latin typeface="Georgia"/>
              </a:rPr>
              <a:t>Full Pipeline Implemented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9981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C"/>
                </a:solidFill>
                <a:latin typeface="Calibri"/>
              </a:rPr>
              <a:t>Local Showdown server → poke-env → custom Gymnasium env → PyTorch actor-critic; end-to-end from game simulator to trained policy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831336"/>
            <a:ext cx="11365992" cy="1051560"/>
          </a:xfrm>
          <a:prstGeom prst="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3831336"/>
            <a:ext cx="73152" cy="1051560"/>
          </a:xfrm>
          <a:prstGeom prst="rect">
            <a:avLst/>
          </a:prstGeom>
          <a:solidFill>
            <a:srgbClr val="E89C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9227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9C13"/>
                </a:solidFill>
                <a:latin typeface="Georgia"/>
              </a:rPr>
              <a:t>Self-Play Curriculum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306824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C"/>
                </a:solidFill>
                <a:latin typeface="Calibri"/>
              </a:rPr>
              <a:t>Mode 1 self-play provides automatic difficulty scaling — no hand-crafted opponents needed; agent strength determines opponent strength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038344"/>
            <a:ext cx="11365992" cy="1051560"/>
          </a:xfrm>
          <a:prstGeom prst="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5038344"/>
            <a:ext cx="73152" cy="1051560"/>
          </a:xfrm>
          <a:prstGeom prst="rect">
            <a:avLst/>
          </a:prstGeom>
          <a:solidFill>
            <a:srgbClr val="0A8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12978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8A7A"/>
                </a:solidFill>
                <a:latin typeface="Georgia"/>
              </a:rPr>
              <a:t>PPO + Action Masking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13831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8D8EC"/>
                </a:solidFill>
                <a:latin typeface="Calibri"/>
              </a:rPr>
              <a:t>Demonstrates deep RL can tackle large combinatorial, partially observable, turn-based strategy games through careful environment and policy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Abdur Islam  ·  Aden Athar  ·  Duncan Hintz  ·  Felix Roman  ·  CPTS 440  ·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B2B"/>
                </a:solidFill>
                <a:latin typeface="Calibri"/>
              </a:rPr>
              <a:t>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57200"/>
            <a:ext cx="11338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References &amp; Acknowledgements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11365992" cy="36576"/>
          </a:xfrm>
          <a:prstGeom prst="rect">
            <a:avLst/>
          </a:prstGeom>
          <a:solidFill>
            <a:srgbClr val="1A78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749808"/>
          </a:xfrm>
          <a:prstGeom prst="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44475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9C13"/>
                </a:solidFill>
                <a:latin typeface="Consolas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Schulman et al. (2017)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7393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C"/>
                </a:solidFill>
                <a:latin typeface="Calibri"/>
              </a:rPr>
              <a:t>Proximal Policy Optimization Algorithms — arXiv:1707.06347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86000"/>
            <a:ext cx="11365992" cy="749808"/>
          </a:xfrm>
          <a:prstGeom prst="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235915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9C13"/>
                </a:solidFill>
                <a:latin typeface="Consolas"/>
              </a:rP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591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Costa et 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C"/>
                </a:solidFill>
                <a:latin typeface="Calibri"/>
              </a:rPr>
              <a:t>CleanRL: High-quality Single-file RL Implementations — JMLR / github.com/vwxyzjn/cleanrl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00400"/>
            <a:ext cx="11365992" cy="749808"/>
          </a:xfrm>
          <a:prstGeom prst="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327355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9C13"/>
                </a:solidFill>
                <a:latin typeface="Consolas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735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poke-env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0273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C"/>
                </a:solidFill>
                <a:latin typeface="Calibri"/>
              </a:rPr>
              <a:t>Python environment for Pokémon Showdown battle simulation — github.com/hsahovic/poke-env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114800"/>
            <a:ext cx="11365992" cy="749808"/>
          </a:xfrm>
          <a:prstGeom prst="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418795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9C13"/>
                </a:solidFill>
                <a:latin typeface="Consolas"/>
              </a:rPr>
              <a:t>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1879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Pokémon Showdown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51713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C"/>
                </a:solidFill>
                <a:latin typeface="Calibri"/>
              </a:rPr>
              <a:t>Open-source competitive Pokémon battle simulator — pokemonshowdown.com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29200"/>
            <a:ext cx="11365992" cy="749808"/>
          </a:xfrm>
          <a:prstGeom prst="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5102352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89C13"/>
                </a:solidFill>
                <a:latin typeface="Consolas"/>
              </a:rPr>
              <a:t>[5]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023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OpenAI / Farama Gymnasium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31536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C"/>
                </a:solidFill>
                <a:latin typeface="Calibri"/>
              </a:rPr>
              <a:t>Standard API for reinforcement learning environments — gymnasium.farama.org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662025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Built with PyTorch · poke-env · Pokémon Showdown · Python-PPO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1499</Words>
  <Application>Microsoft Office PowerPoint</Application>
  <PresentationFormat>Custom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Felix Roman</dc:creator>
  <cp:keywords/>
  <dc:description>generated using python-pptx</dc:description>
  <cp:lastModifiedBy>Felix Roman</cp:lastModifiedBy>
  <cp:revision>2</cp:revision>
  <dcterms:created xsi:type="dcterms:W3CDTF">2013-01-27T09:14:16Z</dcterms:created>
  <dcterms:modified xsi:type="dcterms:W3CDTF">2026-04-29T22:49:07Z</dcterms:modified>
  <cp:category/>
</cp:coreProperties>
</file>